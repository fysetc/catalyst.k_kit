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1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1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7460" y="855980"/>
            <a:ext cx="7620000" cy="5410835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 flipH="1" flipV="1">
            <a:off x="2769235" y="309880"/>
            <a:ext cx="9525" cy="746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 flipV="1">
            <a:off x="9912985" y="309880"/>
            <a:ext cx="9525" cy="746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2788285" y="645795"/>
            <a:ext cx="300037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>
            <a:off x="6931660" y="645795"/>
            <a:ext cx="29337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867400" y="426085"/>
            <a:ext cx="986155" cy="429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138mm</a:t>
            </a:r>
            <a:endParaRPr lang="en-US" altLang="zh-CN"/>
          </a:p>
        </p:txBody>
      </p:sp>
      <p:cxnSp>
        <p:nvCxnSpPr>
          <p:cNvPr id="11" name="直接连接符 10"/>
          <p:cNvCxnSpPr/>
          <p:nvPr/>
        </p:nvCxnSpPr>
        <p:spPr>
          <a:xfrm>
            <a:off x="9784080" y="1064895"/>
            <a:ext cx="12763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9784080" y="6126480"/>
            <a:ext cx="1112520" cy="2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10672445" y="1080135"/>
            <a:ext cx="0" cy="21393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 flipV="1">
            <a:off x="10672445" y="3927475"/>
            <a:ext cx="0" cy="21393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0179685" y="3358515"/>
            <a:ext cx="986155" cy="429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98mm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51205" y="421640"/>
            <a:ext cx="1552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特性</a:t>
            </a:r>
            <a:r>
              <a:rPr lang="en-US" altLang="zh-CN"/>
              <a:t>: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435735" y="1042670"/>
            <a:ext cx="8797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480 MHz Cortex-M7</a:t>
            </a:r>
            <a:r>
              <a:rPr lang="zh-CN" altLang="en-US"/>
              <a:t>内核、双精度</a:t>
            </a:r>
            <a:r>
              <a:rPr lang="en-US" altLang="zh-CN"/>
              <a:t>FPU</a:t>
            </a:r>
            <a:r>
              <a:rPr lang="zh-CN" altLang="en-US"/>
              <a:t>及</a:t>
            </a:r>
            <a:r>
              <a:rPr lang="en-US" altLang="zh-CN"/>
              <a:t>DSP</a:t>
            </a:r>
            <a:r>
              <a:rPr lang="zh-CN" altLang="en-US"/>
              <a:t>指令集，实现多轴同步运算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435735" y="1525270"/>
            <a:ext cx="7073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板载</a:t>
            </a:r>
            <a:r>
              <a:rPr lang="en-US" altLang="zh-CN"/>
              <a:t>USB2.0</a:t>
            </a:r>
            <a:r>
              <a:rPr lang="zh-CN" altLang="en-US"/>
              <a:t>集线器，</a:t>
            </a:r>
            <a:r>
              <a:rPr lang="en-US" altLang="zh-CN"/>
              <a:t>4</a:t>
            </a:r>
            <a:r>
              <a:rPr lang="zh-CN" altLang="en-US"/>
              <a:t>个</a:t>
            </a:r>
            <a:r>
              <a:rPr lang="en-US" altLang="zh-CN"/>
              <a:t>USB2.0</a:t>
            </a:r>
            <a:r>
              <a:rPr lang="zh-CN" altLang="en-US"/>
              <a:t>接口（其中一个连接</a:t>
            </a:r>
            <a:r>
              <a:rPr lang="en-US" altLang="zh-CN"/>
              <a:t>MCU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435735" y="2007870"/>
            <a:ext cx="7945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支持</a:t>
            </a:r>
            <a:r>
              <a:rPr lang="en-US" altLang="zh-CN"/>
              <a:t>CAN/USB2.0/RS-232</a:t>
            </a:r>
            <a:r>
              <a:rPr lang="zh-CN" altLang="en-US"/>
              <a:t>三种通信模式连接，并且配置板载切换开关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435735" y="2490470"/>
            <a:ext cx="9556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>
                <a:sym typeface="+mn-ea"/>
              </a:rPr>
              <a:t>多路大功率板载</a:t>
            </a:r>
            <a:r>
              <a:rPr lang="en-US" altLang="zh-CN"/>
              <a:t>DC-DC</a:t>
            </a:r>
            <a:r>
              <a:rPr lang="zh-CN" altLang="en-US"/>
              <a:t>转换器：</a:t>
            </a:r>
            <a:r>
              <a:rPr lang="en-US" altLang="zh-CN">
                <a:sym typeface="+mn-ea"/>
              </a:rPr>
              <a:t>5V@3A/</a:t>
            </a:r>
            <a:r>
              <a:rPr lang="en-US" altLang="zh-CN">
                <a:sym typeface="+mn-ea"/>
              </a:rPr>
              <a:t>12V@3A</a:t>
            </a:r>
            <a:r>
              <a:rPr lang="zh-CN" altLang="en-US">
                <a:sym typeface="+mn-ea"/>
              </a:rPr>
              <a:t>，</a:t>
            </a:r>
            <a:r>
              <a:rPr lang="zh-CN" altLang="zh-CN">
                <a:sym typeface="+mn-ea"/>
              </a:rPr>
              <a:t>外加一路</a:t>
            </a:r>
            <a:r>
              <a:rPr lang="en-US" altLang="zh-CN">
                <a:sym typeface="+mn-ea"/>
              </a:rPr>
              <a:t>5V@6A(</a:t>
            </a:r>
            <a:r>
              <a:rPr lang="zh-CN" altLang="en-US">
                <a:sym typeface="+mn-ea"/>
              </a:rPr>
              <a:t>用于树苺派设备</a:t>
            </a:r>
            <a:r>
              <a:rPr lang="en-US" altLang="zh-CN">
                <a:sym typeface="+mn-ea"/>
              </a:rPr>
              <a:t>)</a:t>
            </a:r>
            <a:endParaRPr lang="zh-CN" altLang="zh-CN"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35735" y="2973070"/>
            <a:ext cx="9556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风扇控制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加热均采用独立大功率</a:t>
            </a:r>
            <a:r>
              <a:rPr lang="en-US" altLang="zh-CN">
                <a:sym typeface="+mn-ea"/>
              </a:rPr>
              <a:t>MOS</a:t>
            </a:r>
            <a:r>
              <a:rPr lang="zh-CN" altLang="en-US">
                <a:sym typeface="+mn-ea"/>
              </a:rPr>
              <a:t>管，更安全且发热量更低</a:t>
            </a:r>
            <a:endParaRPr lang="zh-CN" altLang="en-US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35735" y="3455670"/>
            <a:ext cx="9948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5</a:t>
            </a:r>
            <a:r>
              <a:rPr lang="zh-CN" altLang="en-US">
                <a:sym typeface="+mn-ea"/>
              </a:rPr>
              <a:t>个可独立切换电压的步进电机驱动模块，可根据实际需求使用</a:t>
            </a:r>
            <a:r>
              <a:rPr lang="en-US" altLang="zh-CN">
                <a:sym typeface="+mn-ea"/>
              </a:rPr>
              <a:t>24V/48V</a:t>
            </a:r>
            <a:r>
              <a:rPr lang="zh-CN" altLang="en-US">
                <a:sym typeface="+mn-ea"/>
              </a:rPr>
              <a:t>驱动模块，灵活切换</a:t>
            </a:r>
            <a:endParaRPr lang="zh-CN" altLang="en-US"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35735" y="3938270"/>
            <a:ext cx="9948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个风扇接口均可电压选择</a:t>
            </a:r>
            <a:r>
              <a:rPr lang="en-US" altLang="zh-CN">
                <a:sym typeface="+mn-ea"/>
              </a:rPr>
              <a:t>(1</a:t>
            </a:r>
            <a:r>
              <a:rPr lang="zh-CN" altLang="en-US">
                <a:sym typeface="+mn-ea"/>
              </a:rPr>
              <a:t>个三线风扇</a:t>
            </a:r>
            <a:r>
              <a:rPr lang="en-US" altLang="zh-CN">
                <a:sym typeface="+mn-ea"/>
              </a:rPr>
              <a:t>+3</a:t>
            </a:r>
            <a:r>
              <a:rPr lang="zh-CN" altLang="en-US">
                <a:sym typeface="+mn-ea"/>
              </a:rPr>
              <a:t>个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线风扇</a:t>
            </a:r>
            <a:r>
              <a:rPr lang="en-US" altLang="zh-CN">
                <a:sym typeface="+mn-ea"/>
              </a:rPr>
              <a:t>)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9</a:t>
            </a:r>
            <a:r>
              <a:rPr lang="zh-CN" altLang="en-US">
                <a:sym typeface="+mn-ea"/>
              </a:rPr>
              <a:t>个带电平转换器</a:t>
            </a:r>
            <a:r>
              <a:rPr lang="en-US" altLang="zh-CN">
                <a:sym typeface="+mn-ea"/>
              </a:rPr>
              <a:t>IO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个</a:t>
            </a:r>
            <a:r>
              <a:rPr lang="en-US" altLang="zh-CN">
                <a:sym typeface="+mn-ea"/>
              </a:rPr>
              <a:t>RGB</a:t>
            </a:r>
            <a:r>
              <a:rPr lang="zh-CN" altLang="en-US">
                <a:sym typeface="+mn-ea"/>
              </a:rPr>
              <a:t>接口，两个大功率</a:t>
            </a:r>
            <a:r>
              <a:rPr lang="en-US" altLang="zh-CN">
                <a:sym typeface="+mn-ea"/>
              </a:rPr>
              <a:t>MOS</a:t>
            </a:r>
            <a:r>
              <a:rPr lang="zh-CN" altLang="en-US">
                <a:sym typeface="+mn-ea"/>
              </a:rPr>
              <a:t>管输出接口</a:t>
            </a:r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均可达到</a:t>
            </a:r>
            <a:r>
              <a:rPr lang="en-US" altLang="zh-CN">
                <a:sym typeface="+mn-ea"/>
              </a:rPr>
              <a:t>100W</a:t>
            </a:r>
            <a:r>
              <a:rPr lang="zh-CN" altLang="en-US">
                <a:sym typeface="+mn-ea"/>
              </a:rPr>
              <a:t>输出</a:t>
            </a:r>
            <a:r>
              <a:rPr lang="en-US" altLang="zh-CN">
                <a:sym typeface="+mn-ea"/>
              </a:rPr>
              <a:t>)</a:t>
            </a:r>
            <a:r>
              <a:rPr lang="zh-CN" altLang="en-US">
                <a:sym typeface="+mn-ea"/>
              </a:rPr>
              <a:t>，两路温度检测接口，</a:t>
            </a:r>
            <a:endParaRPr lang="zh-CN" altLang="en-US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35735" y="4697730"/>
            <a:ext cx="9948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板载</a:t>
            </a:r>
            <a:r>
              <a:rPr lang="en-US" altLang="zh-CN">
                <a:sym typeface="+mn-ea"/>
              </a:rPr>
              <a:t>RESET</a:t>
            </a:r>
            <a:r>
              <a:rPr lang="zh-CN" altLang="en-US">
                <a:sym typeface="+mn-ea"/>
              </a:rPr>
              <a:t>与</a:t>
            </a:r>
            <a:r>
              <a:rPr lang="en-US" altLang="zh-CN">
                <a:sym typeface="+mn-ea"/>
              </a:rPr>
              <a:t>BOOT0</a:t>
            </a:r>
            <a:r>
              <a:rPr lang="zh-CN" altLang="en-US">
                <a:sym typeface="+mn-ea"/>
              </a:rPr>
              <a:t>按键</a:t>
            </a:r>
            <a:endParaRPr lang="zh-CN" altLang="en-US"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435735" y="5180330"/>
            <a:ext cx="9948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USB-C</a:t>
            </a:r>
            <a:r>
              <a:rPr lang="zh-CN" altLang="en-US">
                <a:sym typeface="+mn-ea"/>
              </a:rPr>
              <a:t>接口用于固件更新</a:t>
            </a:r>
            <a:endParaRPr lang="zh-CN" altLang="en-US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51205" y="421640"/>
            <a:ext cx="1552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接口说明：</a:t>
            </a:r>
            <a:endParaRPr 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7160" y="1097280"/>
            <a:ext cx="6609715" cy="469328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185285" y="4271645"/>
            <a:ext cx="3589655" cy="1143000"/>
          </a:xfrm>
          <a:prstGeom prst="rect">
            <a:avLst/>
          </a:prstGeom>
          <a:noFill/>
          <a:ln w="28575" cmpd="sng">
            <a:solidFill>
              <a:srgbClr val="C0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621530" y="6062345"/>
            <a:ext cx="3088640" cy="551180"/>
          </a:xfrm>
          <a:prstGeom prst="rect">
            <a:avLst/>
          </a:prstGeom>
          <a:noFill/>
          <a:ln w="28575" cmpd="sng">
            <a:solidFill>
              <a:srgbClr val="C0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968875" y="6176010"/>
            <a:ext cx="2251710" cy="370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500"/>
              <a:t>  </a:t>
            </a:r>
            <a:r>
              <a:rPr lang="zh-CN" altLang="en-US" sz="1500"/>
              <a:t>步进电机驱动模块插口</a:t>
            </a:r>
            <a:endParaRPr lang="zh-CN" altLang="en-US" sz="1500"/>
          </a:p>
        </p:txBody>
      </p:sp>
      <p:sp>
        <p:nvSpPr>
          <p:cNvPr id="9" name="矩形 8"/>
          <p:cNvSpPr/>
          <p:nvPr/>
        </p:nvSpPr>
        <p:spPr>
          <a:xfrm>
            <a:off x="7828280" y="5010150"/>
            <a:ext cx="549275" cy="718820"/>
          </a:xfrm>
          <a:prstGeom prst="rect">
            <a:avLst/>
          </a:prstGeom>
          <a:noFill/>
          <a:ln w="28575" cmpd="sng">
            <a:solidFill>
              <a:srgbClr val="00B05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828280" y="6062345"/>
            <a:ext cx="1081405" cy="551180"/>
          </a:xfrm>
          <a:prstGeom prst="rect">
            <a:avLst/>
          </a:prstGeom>
          <a:noFill/>
          <a:ln w="28575" cmpd="sng">
            <a:solidFill>
              <a:srgbClr val="00B05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828280" y="6176010"/>
            <a:ext cx="1147445" cy="370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500"/>
              <a:t>RS-232 * 2</a:t>
            </a:r>
            <a:endParaRPr lang="en-US" altLang="zh-CN" sz="1500"/>
          </a:p>
        </p:txBody>
      </p:sp>
      <p:sp>
        <p:nvSpPr>
          <p:cNvPr id="12" name="矩形 11"/>
          <p:cNvSpPr/>
          <p:nvPr/>
        </p:nvSpPr>
        <p:spPr>
          <a:xfrm>
            <a:off x="8719820" y="5093970"/>
            <a:ext cx="567690" cy="634365"/>
          </a:xfrm>
          <a:prstGeom prst="rect">
            <a:avLst/>
          </a:prstGeom>
          <a:noFill/>
          <a:ln w="28575" cmpd="sng">
            <a:solidFill>
              <a:srgbClr val="00B0F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713595" y="5094605"/>
            <a:ext cx="1125855" cy="634365"/>
          </a:xfrm>
          <a:prstGeom prst="rect">
            <a:avLst/>
          </a:prstGeom>
          <a:noFill/>
          <a:ln w="28575" cmpd="sng">
            <a:solidFill>
              <a:srgbClr val="00B0F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713595" y="5264785"/>
            <a:ext cx="843280" cy="370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500"/>
              <a:t>RS-485</a:t>
            </a:r>
            <a:endParaRPr lang="en-US" altLang="zh-CN" sz="1500"/>
          </a:p>
        </p:txBody>
      </p:sp>
      <p:sp>
        <p:nvSpPr>
          <p:cNvPr id="15" name="矩形 14"/>
          <p:cNvSpPr/>
          <p:nvPr/>
        </p:nvSpPr>
        <p:spPr>
          <a:xfrm>
            <a:off x="8547735" y="3966845"/>
            <a:ext cx="738505" cy="527685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9713595" y="3966845"/>
            <a:ext cx="1125855" cy="479425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9747250" y="4076065"/>
            <a:ext cx="1170305" cy="370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500"/>
              <a:t>PWR-48V</a:t>
            </a:r>
            <a:endParaRPr lang="en-US" altLang="zh-CN" sz="1500"/>
          </a:p>
        </p:txBody>
      </p:sp>
      <p:sp>
        <p:nvSpPr>
          <p:cNvPr id="18" name="矩形 17"/>
          <p:cNvSpPr/>
          <p:nvPr/>
        </p:nvSpPr>
        <p:spPr>
          <a:xfrm>
            <a:off x="8738235" y="3476625"/>
            <a:ext cx="549275" cy="490220"/>
          </a:xfrm>
          <a:prstGeom prst="rect">
            <a:avLst/>
          </a:prstGeom>
          <a:noFill/>
          <a:ln w="28575" cmpd="sng">
            <a:solidFill>
              <a:srgbClr val="00B05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9690735" y="3429000"/>
            <a:ext cx="1148715" cy="490220"/>
          </a:xfrm>
          <a:prstGeom prst="rect">
            <a:avLst/>
          </a:prstGeom>
          <a:noFill/>
          <a:ln w="28575" cmpd="sng">
            <a:solidFill>
              <a:srgbClr val="00B05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9912350" y="3476625"/>
            <a:ext cx="728980" cy="370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500"/>
              <a:t>CAN</a:t>
            </a:r>
            <a:endParaRPr lang="en-US" altLang="zh-CN" sz="1500"/>
          </a:p>
        </p:txBody>
      </p:sp>
      <p:sp>
        <p:nvSpPr>
          <p:cNvPr id="22" name="矩形 21"/>
          <p:cNvSpPr/>
          <p:nvPr/>
        </p:nvSpPr>
        <p:spPr>
          <a:xfrm>
            <a:off x="8494395" y="1289685"/>
            <a:ext cx="791210" cy="2139315"/>
          </a:xfrm>
          <a:prstGeom prst="rect">
            <a:avLst/>
          </a:prstGeom>
          <a:noFill/>
          <a:ln w="28575" cmpd="sng">
            <a:solidFill>
              <a:srgbClr val="FFC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9690735" y="1341755"/>
            <a:ext cx="1102995" cy="1610995"/>
          </a:xfrm>
          <a:prstGeom prst="rect">
            <a:avLst/>
          </a:prstGeom>
          <a:noFill/>
          <a:ln w="28575" cmpd="sng">
            <a:solidFill>
              <a:srgbClr val="FFC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818370" y="1805305"/>
            <a:ext cx="893445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500"/>
              <a:t>   </a:t>
            </a:r>
            <a:r>
              <a:rPr lang="zh-CN" altLang="en-US" sz="1500"/>
              <a:t>下行</a:t>
            </a:r>
            <a:r>
              <a:rPr lang="en-US" altLang="zh-CN" sz="1500"/>
              <a:t> </a:t>
            </a:r>
            <a:endParaRPr lang="en-US" altLang="zh-CN" sz="1500"/>
          </a:p>
          <a:p>
            <a:r>
              <a:rPr lang="en-US" altLang="zh-CN" sz="1500"/>
              <a:t>USB* 3</a:t>
            </a:r>
            <a:endParaRPr lang="en-US" altLang="zh-CN" sz="1500"/>
          </a:p>
        </p:txBody>
      </p:sp>
      <p:sp>
        <p:nvSpPr>
          <p:cNvPr id="25" name="矩形 24"/>
          <p:cNvSpPr/>
          <p:nvPr/>
        </p:nvSpPr>
        <p:spPr>
          <a:xfrm>
            <a:off x="7710170" y="1170940"/>
            <a:ext cx="667385" cy="700405"/>
          </a:xfrm>
          <a:prstGeom prst="rect">
            <a:avLst/>
          </a:prstGeom>
          <a:noFill/>
          <a:ln w="28575" cmpd="sng">
            <a:solidFill>
              <a:srgbClr val="00B0F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7710170" y="223520"/>
            <a:ext cx="1199515" cy="700405"/>
          </a:xfrm>
          <a:prstGeom prst="rect">
            <a:avLst/>
          </a:prstGeom>
          <a:noFill/>
          <a:ln w="28575" cmpd="sng">
            <a:solidFill>
              <a:srgbClr val="00B0F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7893050" y="262255"/>
            <a:ext cx="10541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</a:t>
            </a:r>
            <a:r>
              <a:rPr lang="zh-CN" altLang="en-US"/>
              <a:t>上行</a:t>
            </a:r>
            <a:endParaRPr lang="zh-CN" altLang="en-US"/>
          </a:p>
          <a:p>
            <a:r>
              <a:rPr lang="en-US" altLang="zh-CN"/>
              <a:t>Type-C</a:t>
            </a:r>
            <a:endParaRPr lang="en-US" altLang="zh-CN"/>
          </a:p>
        </p:txBody>
      </p:sp>
      <p:sp>
        <p:nvSpPr>
          <p:cNvPr id="30" name="任意多边形 29"/>
          <p:cNvSpPr/>
          <p:nvPr/>
        </p:nvSpPr>
        <p:spPr>
          <a:xfrm>
            <a:off x="3456940" y="3972560"/>
            <a:ext cx="1879600" cy="176339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960" h="2777">
                <a:moveTo>
                  <a:pt x="595" y="0"/>
                </a:moveTo>
                <a:lnTo>
                  <a:pt x="2960" y="0"/>
                </a:lnTo>
                <a:lnTo>
                  <a:pt x="2960" y="446"/>
                </a:lnTo>
                <a:lnTo>
                  <a:pt x="1098" y="446"/>
                </a:lnTo>
                <a:lnTo>
                  <a:pt x="1098" y="2107"/>
                </a:lnTo>
                <a:lnTo>
                  <a:pt x="1100" y="2107"/>
                </a:lnTo>
                <a:lnTo>
                  <a:pt x="1100" y="2777"/>
                </a:lnTo>
                <a:lnTo>
                  <a:pt x="0" y="2777"/>
                </a:lnTo>
                <a:lnTo>
                  <a:pt x="0" y="2107"/>
                </a:lnTo>
                <a:lnTo>
                  <a:pt x="592" y="2107"/>
                </a:lnTo>
                <a:lnTo>
                  <a:pt x="592" y="386"/>
                </a:lnTo>
                <a:lnTo>
                  <a:pt x="595" y="386"/>
                </a:lnTo>
                <a:lnTo>
                  <a:pt x="595" y="0"/>
                </a:lnTo>
                <a:close/>
              </a:path>
            </a:pathLst>
          </a:custGeom>
          <a:noFill/>
          <a:ln w="28575" cmpd="sng">
            <a:solidFill>
              <a:srgbClr val="00B05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3456940" y="6062345"/>
            <a:ext cx="951865" cy="551180"/>
          </a:xfrm>
          <a:prstGeom prst="rect">
            <a:avLst/>
          </a:prstGeom>
          <a:noFill/>
          <a:ln w="28575" cmpd="sng">
            <a:solidFill>
              <a:srgbClr val="00B05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3560445" y="6176010"/>
            <a:ext cx="744220" cy="370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500"/>
              <a:t>IO * 5</a:t>
            </a:r>
            <a:endParaRPr lang="en-US" altLang="zh-CN" sz="1500"/>
          </a:p>
        </p:txBody>
      </p:sp>
      <p:sp>
        <p:nvSpPr>
          <p:cNvPr id="36" name="任意多边形 35"/>
          <p:cNvSpPr/>
          <p:nvPr/>
        </p:nvSpPr>
        <p:spPr>
          <a:xfrm>
            <a:off x="3124200" y="4138930"/>
            <a:ext cx="550545" cy="115951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03" h="1826">
                <a:moveTo>
                  <a:pt x="180" y="0"/>
                </a:moveTo>
                <a:lnTo>
                  <a:pt x="903" y="0"/>
                </a:lnTo>
                <a:lnTo>
                  <a:pt x="903" y="484"/>
                </a:lnTo>
                <a:lnTo>
                  <a:pt x="723" y="484"/>
                </a:lnTo>
                <a:lnTo>
                  <a:pt x="723" y="1826"/>
                </a:lnTo>
                <a:lnTo>
                  <a:pt x="0" y="1826"/>
                </a:lnTo>
                <a:lnTo>
                  <a:pt x="0" y="373"/>
                </a:lnTo>
                <a:lnTo>
                  <a:pt x="180" y="373"/>
                </a:lnTo>
                <a:lnTo>
                  <a:pt x="180" y="0"/>
                </a:lnTo>
                <a:close/>
              </a:path>
            </a:pathLst>
          </a:custGeom>
          <a:noFill/>
          <a:ln w="28575" cmpd="sng">
            <a:solidFill>
              <a:srgbClr val="00B0F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589405" y="4183380"/>
            <a:ext cx="826770" cy="826135"/>
          </a:xfrm>
          <a:prstGeom prst="rect">
            <a:avLst/>
          </a:prstGeom>
          <a:noFill/>
          <a:ln w="28575" cmpd="sng">
            <a:solidFill>
              <a:srgbClr val="00B0F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/>
        </p:nvSpPr>
        <p:spPr>
          <a:xfrm>
            <a:off x="2792730" y="4138930"/>
            <a:ext cx="424180" cy="124841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7" h="1966">
                <a:moveTo>
                  <a:pt x="0" y="0"/>
                </a:moveTo>
                <a:lnTo>
                  <a:pt x="557" y="0"/>
                </a:lnTo>
                <a:lnTo>
                  <a:pt x="557" y="422"/>
                </a:lnTo>
                <a:lnTo>
                  <a:pt x="365" y="422"/>
                </a:lnTo>
                <a:lnTo>
                  <a:pt x="365" y="1966"/>
                </a:lnTo>
                <a:lnTo>
                  <a:pt x="0" y="1966"/>
                </a:lnTo>
                <a:lnTo>
                  <a:pt x="0" y="422"/>
                </a:lnTo>
                <a:lnTo>
                  <a:pt x="0" y="367"/>
                </a:lnTo>
                <a:lnTo>
                  <a:pt x="0" y="0"/>
                </a:lnTo>
                <a:close/>
              </a:path>
            </a:pathLst>
          </a:custGeom>
          <a:noFill/>
          <a:ln w="28575" cmpd="sng">
            <a:solidFill>
              <a:srgbClr val="FFC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935990" y="4168140"/>
            <a:ext cx="589280" cy="1255395"/>
          </a:xfrm>
          <a:prstGeom prst="rect">
            <a:avLst/>
          </a:prstGeom>
          <a:noFill/>
          <a:ln w="28575" cmpd="sng">
            <a:solidFill>
              <a:srgbClr val="FFC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1678940" y="4446270"/>
            <a:ext cx="91249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500"/>
              <a:t>风扇</a:t>
            </a:r>
            <a:r>
              <a:rPr lang="en-US" altLang="zh-CN" sz="1500"/>
              <a:t> * 4</a:t>
            </a:r>
            <a:endParaRPr lang="en-US" altLang="zh-CN" sz="1500"/>
          </a:p>
        </p:txBody>
      </p:sp>
      <p:sp>
        <p:nvSpPr>
          <p:cNvPr id="45" name="文本框 44"/>
          <p:cNvSpPr txBox="1"/>
          <p:nvPr/>
        </p:nvSpPr>
        <p:spPr>
          <a:xfrm>
            <a:off x="1033780" y="4168775"/>
            <a:ext cx="413385" cy="124523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 sz="1500"/>
              <a:t>风扇电压选择</a:t>
            </a:r>
            <a:endParaRPr lang="zh-CN" altLang="en-US" sz="1500"/>
          </a:p>
        </p:txBody>
      </p:sp>
      <p:sp>
        <p:nvSpPr>
          <p:cNvPr id="46" name="矩形 45"/>
          <p:cNvSpPr/>
          <p:nvPr/>
        </p:nvSpPr>
        <p:spPr>
          <a:xfrm>
            <a:off x="2786380" y="2119630"/>
            <a:ext cx="670560" cy="1022985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1395095" y="2120265"/>
            <a:ext cx="1000760" cy="977265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1389380" y="2230120"/>
            <a:ext cx="103759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500"/>
              <a:t>PWR-24V</a:t>
            </a:r>
            <a:endParaRPr lang="en-US" sz="1500"/>
          </a:p>
        </p:txBody>
      </p:sp>
      <p:sp>
        <p:nvSpPr>
          <p:cNvPr id="49" name="文本框 48"/>
          <p:cNvSpPr txBox="1"/>
          <p:nvPr/>
        </p:nvSpPr>
        <p:spPr>
          <a:xfrm>
            <a:off x="1379855" y="2681605"/>
            <a:ext cx="105918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500"/>
              <a:t>BED-OUT</a:t>
            </a:r>
            <a:endParaRPr lang="en-US" sz="1500"/>
          </a:p>
        </p:txBody>
      </p:sp>
      <p:sp>
        <p:nvSpPr>
          <p:cNvPr id="51" name="矩形 50"/>
          <p:cNvSpPr/>
          <p:nvPr/>
        </p:nvSpPr>
        <p:spPr>
          <a:xfrm>
            <a:off x="2793365" y="3846830"/>
            <a:ext cx="675640" cy="292100"/>
          </a:xfrm>
          <a:prstGeom prst="rect">
            <a:avLst/>
          </a:prstGeom>
          <a:noFill/>
          <a:ln w="28575" cmpd="sng">
            <a:solidFill>
              <a:srgbClr val="C00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1503045" y="3855085"/>
            <a:ext cx="913130" cy="292100"/>
          </a:xfrm>
          <a:prstGeom prst="rect">
            <a:avLst/>
          </a:prstGeom>
          <a:noFill/>
          <a:ln w="28575" cmpd="sng">
            <a:solidFill>
              <a:srgbClr val="C00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1536065" y="3807460"/>
            <a:ext cx="86804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500"/>
              <a:t>TE * 2</a:t>
            </a:r>
            <a:endParaRPr lang="en-US" sz="1500"/>
          </a:p>
        </p:txBody>
      </p:sp>
      <p:sp>
        <p:nvSpPr>
          <p:cNvPr id="54" name="矩形 53"/>
          <p:cNvSpPr/>
          <p:nvPr/>
        </p:nvSpPr>
        <p:spPr>
          <a:xfrm>
            <a:off x="2786380" y="3142615"/>
            <a:ext cx="669925" cy="704215"/>
          </a:xfrm>
          <a:prstGeom prst="rect">
            <a:avLst/>
          </a:prstGeom>
          <a:noFill/>
          <a:ln w="28575" cmpd="sng">
            <a:solidFill>
              <a:srgbClr val="00B05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1503045" y="3147060"/>
            <a:ext cx="913765" cy="660400"/>
          </a:xfrm>
          <a:prstGeom prst="rect">
            <a:avLst/>
          </a:prstGeom>
          <a:noFill/>
          <a:ln w="28575" cmpd="sng">
            <a:solidFill>
              <a:srgbClr val="00B05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1491615" y="3218180"/>
            <a:ext cx="9124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500"/>
              <a:t>大功率</a:t>
            </a:r>
            <a:r>
              <a:rPr lang="en-US" altLang="zh-CN" sz="1500"/>
              <a:t>MOS * 2</a:t>
            </a:r>
            <a:endParaRPr lang="en-US" altLang="zh-CN" sz="1500"/>
          </a:p>
        </p:txBody>
      </p:sp>
      <p:sp>
        <p:nvSpPr>
          <p:cNvPr id="57" name="矩形 56"/>
          <p:cNvSpPr/>
          <p:nvPr/>
        </p:nvSpPr>
        <p:spPr>
          <a:xfrm>
            <a:off x="2781300" y="1233170"/>
            <a:ext cx="531495" cy="763905"/>
          </a:xfrm>
          <a:prstGeom prst="rect">
            <a:avLst/>
          </a:prstGeom>
          <a:noFill/>
          <a:ln w="28575" cmpd="sng">
            <a:solidFill>
              <a:srgbClr val="00B0F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1531620" y="1289685"/>
            <a:ext cx="895985" cy="706755"/>
          </a:xfrm>
          <a:prstGeom prst="rect">
            <a:avLst/>
          </a:prstGeom>
          <a:noFill/>
          <a:ln w="28575" cmpd="sng">
            <a:solidFill>
              <a:srgbClr val="00B0F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1651635" y="1412240"/>
            <a:ext cx="744220" cy="499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500"/>
              <a:t>IO * 3</a:t>
            </a:r>
            <a:endParaRPr lang="en-US" altLang="zh-CN" sz="1500"/>
          </a:p>
          <a:p>
            <a:r>
              <a:rPr lang="en-US" altLang="zh-CN" sz="1500"/>
              <a:t> </a:t>
            </a:r>
            <a:r>
              <a:rPr lang="zh-CN" altLang="en-US" sz="1500"/>
              <a:t>预留</a:t>
            </a:r>
            <a:endParaRPr lang="zh-CN" altLang="en-US" sz="1500"/>
          </a:p>
        </p:txBody>
      </p:sp>
      <p:sp>
        <p:nvSpPr>
          <p:cNvPr id="60" name="矩形 59"/>
          <p:cNvSpPr/>
          <p:nvPr/>
        </p:nvSpPr>
        <p:spPr>
          <a:xfrm>
            <a:off x="2780665" y="5436235"/>
            <a:ext cx="637540" cy="292100"/>
          </a:xfrm>
          <a:prstGeom prst="rect">
            <a:avLst/>
          </a:prstGeom>
          <a:noFill/>
          <a:ln w="28575" cmpd="sng">
            <a:solidFill>
              <a:srgbClr val="C00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2094230" y="6062345"/>
            <a:ext cx="1168400" cy="551180"/>
          </a:xfrm>
          <a:prstGeom prst="rect">
            <a:avLst/>
          </a:prstGeom>
          <a:noFill/>
          <a:ln w="28575" cmpd="sng">
            <a:solidFill>
              <a:srgbClr val="C00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2184400" y="6060440"/>
            <a:ext cx="9124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500"/>
              <a:t>LASER</a:t>
            </a:r>
            <a:endParaRPr lang="en-US" sz="1500"/>
          </a:p>
          <a:p>
            <a:r>
              <a:rPr lang="en-US" altLang="zh-CN" sz="1500"/>
              <a:t>   </a:t>
            </a:r>
            <a:r>
              <a:rPr lang="zh-CN" altLang="en-US" sz="1500"/>
              <a:t>预留</a:t>
            </a:r>
            <a:endParaRPr lang="zh-CN" altLang="en-US" sz="1500"/>
          </a:p>
        </p:txBody>
      </p:sp>
      <p:sp>
        <p:nvSpPr>
          <p:cNvPr id="63" name="矩形 62"/>
          <p:cNvSpPr/>
          <p:nvPr/>
        </p:nvSpPr>
        <p:spPr>
          <a:xfrm>
            <a:off x="4061460" y="3368040"/>
            <a:ext cx="670560" cy="599440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4097655" y="3597275"/>
            <a:ext cx="59880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500">
                <a:solidFill>
                  <a:srgbClr val="FF0000"/>
                </a:solidFill>
              </a:rPr>
              <a:t>RGB</a:t>
            </a:r>
            <a:endParaRPr lang="en-US" sz="1500">
              <a:solidFill>
                <a:srgbClr val="FF0000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3613150" y="1233170"/>
            <a:ext cx="484505" cy="301625"/>
          </a:xfrm>
          <a:prstGeom prst="rect">
            <a:avLst/>
          </a:prstGeom>
          <a:noFill/>
          <a:ln w="28575" cmpd="sng">
            <a:solidFill>
              <a:srgbClr val="00B05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3261995" y="635000"/>
            <a:ext cx="835025" cy="301625"/>
          </a:xfrm>
          <a:prstGeom prst="rect">
            <a:avLst/>
          </a:prstGeom>
          <a:noFill/>
          <a:ln w="28575" cmpd="sng">
            <a:solidFill>
              <a:srgbClr val="00B05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文本框 66"/>
          <p:cNvSpPr txBox="1"/>
          <p:nvPr/>
        </p:nvSpPr>
        <p:spPr>
          <a:xfrm>
            <a:off x="3244850" y="635000"/>
            <a:ext cx="975995" cy="294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500"/>
              <a:t>AC-BED</a:t>
            </a:r>
            <a:endParaRPr lang="en-US" sz="1500"/>
          </a:p>
        </p:txBody>
      </p:sp>
      <p:sp>
        <p:nvSpPr>
          <p:cNvPr id="68" name="矩形 67"/>
          <p:cNvSpPr/>
          <p:nvPr/>
        </p:nvSpPr>
        <p:spPr>
          <a:xfrm>
            <a:off x="4485005" y="1233170"/>
            <a:ext cx="352425" cy="301625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4304665" y="635000"/>
            <a:ext cx="532765" cy="301625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/>
        </p:nvSpPr>
        <p:spPr>
          <a:xfrm>
            <a:off x="4349750" y="642620"/>
            <a:ext cx="442595" cy="294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500"/>
              <a:t>IO</a:t>
            </a:r>
            <a:endParaRPr lang="en-US" sz="1500"/>
          </a:p>
        </p:txBody>
      </p:sp>
      <p:sp>
        <p:nvSpPr>
          <p:cNvPr id="71" name="矩形 70"/>
          <p:cNvSpPr/>
          <p:nvPr/>
        </p:nvSpPr>
        <p:spPr>
          <a:xfrm>
            <a:off x="9697085" y="4537075"/>
            <a:ext cx="1142365" cy="517525"/>
          </a:xfrm>
          <a:prstGeom prst="rect">
            <a:avLst/>
          </a:prstGeom>
          <a:noFill/>
          <a:ln w="28575" cmpd="sng">
            <a:solidFill>
              <a:srgbClr val="FFC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/>
        </p:nvSpPr>
        <p:spPr>
          <a:xfrm>
            <a:off x="9804400" y="4530725"/>
            <a:ext cx="728980" cy="288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500"/>
              <a:t>RST</a:t>
            </a:r>
            <a:endParaRPr lang="en-US" altLang="zh-CN" sz="1500"/>
          </a:p>
        </p:txBody>
      </p:sp>
      <p:sp>
        <p:nvSpPr>
          <p:cNvPr id="74" name="文本框 73"/>
          <p:cNvSpPr txBox="1"/>
          <p:nvPr/>
        </p:nvSpPr>
        <p:spPr>
          <a:xfrm>
            <a:off x="9804400" y="4772025"/>
            <a:ext cx="836930" cy="288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500"/>
              <a:t>BOOT0</a:t>
            </a:r>
            <a:endParaRPr lang="en-US" altLang="zh-CN" sz="1500"/>
          </a:p>
        </p:txBody>
      </p:sp>
      <p:sp>
        <p:nvSpPr>
          <p:cNvPr id="75" name="矩形 74"/>
          <p:cNvSpPr/>
          <p:nvPr/>
        </p:nvSpPr>
        <p:spPr>
          <a:xfrm>
            <a:off x="8719820" y="4530725"/>
            <a:ext cx="567690" cy="517525"/>
          </a:xfrm>
          <a:prstGeom prst="rect">
            <a:avLst/>
          </a:prstGeom>
          <a:noFill/>
          <a:ln w="28575" cmpd="sng">
            <a:solidFill>
              <a:srgbClr val="FFC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506</Words>
  <Application>WPS 演示</Application>
  <PresentationFormat>宽屏</PresentationFormat>
  <Paragraphs>72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阮小明</cp:lastModifiedBy>
  <cp:revision>157</cp:revision>
  <dcterms:created xsi:type="dcterms:W3CDTF">2019-06-19T02:08:00Z</dcterms:created>
  <dcterms:modified xsi:type="dcterms:W3CDTF">2025-12-10T10:24:02Z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B1DBDCC1512440FA8A7EC950CF615219_11</vt:lpwstr>
  </property>
</Properties>
</file>